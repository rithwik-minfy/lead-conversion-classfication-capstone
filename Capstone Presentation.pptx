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67" r:id="rId4"/>
    <p:sldId id="268" r:id="rId5"/>
    <p:sldId id="259" r:id="rId6"/>
    <p:sldId id="260" r:id="rId7"/>
    <p:sldId id="261" r:id="rId8"/>
    <p:sldId id="263" r:id="rId9"/>
    <p:sldId id="262" r:id="rId10"/>
    <p:sldId id="264" r:id="rId11"/>
    <p:sldId id="265" r:id="rId12"/>
  </p:sldIdLst>
  <p:sldSz cx="14630400" cy="8229600"/>
  <p:notesSz cx="8229600" cy="14630400"/>
  <p:embeddedFontLs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308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391013"/>
            <a:ext cx="10924968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Predicting Lead Conversion Likelihood using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358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AI-Driven Prioritization of Sales Leads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FBC181-3A4E-9EC2-17D0-0EF307962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9868" y="7555831"/>
            <a:ext cx="3084300" cy="10800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268" y="488156"/>
            <a:ext cx="4437936" cy="55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Presentation Agenda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21268" y="1308973"/>
            <a:ext cx="399336" cy="3993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87824" y="1342251"/>
            <a:ext cx="26622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198007" y="1369933"/>
            <a:ext cx="5827157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Business Problem: Inefficient Sales Prioritization and Objective 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268" y="2063234"/>
            <a:ext cx="399336" cy="3993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7824" y="2096512"/>
            <a:ext cx="26622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198007" y="2124194"/>
            <a:ext cx="3069550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Scope &amp; Methodology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268" y="2817495"/>
            <a:ext cx="399336" cy="3993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7824" y="2850773"/>
            <a:ext cx="26622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198007" y="2878455"/>
            <a:ext cx="4896803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268" y="3571756"/>
            <a:ext cx="399336" cy="3993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7824" y="3605034"/>
            <a:ext cx="26622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198007" y="3632716"/>
            <a:ext cx="4327922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Preparation Techniques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1268" y="4326017"/>
            <a:ext cx="399336" cy="3993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7824" y="4359295"/>
            <a:ext cx="26622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198007" y="4386977"/>
            <a:ext cx="2826901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Training &amp; Evaluation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268" y="5080278"/>
            <a:ext cx="399336" cy="3993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7824" y="5113556"/>
            <a:ext cx="26622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1198007" y="5141238"/>
            <a:ext cx="2218968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 and User Interface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21268" y="5834539"/>
            <a:ext cx="399336" cy="3993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7824" y="5867817"/>
            <a:ext cx="26622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1198007" y="5895499"/>
            <a:ext cx="2971086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</a:rPr>
              <a:t>Architecture Diagram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1268" y="6588800"/>
            <a:ext cx="399336" cy="3993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7824" y="6622078"/>
            <a:ext cx="26622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2050" dirty="0"/>
          </a:p>
        </p:txBody>
      </p:sp>
      <p:sp>
        <p:nvSpPr>
          <p:cNvPr id="26" name="Text 24"/>
          <p:cNvSpPr/>
          <p:nvPr/>
        </p:nvSpPr>
        <p:spPr>
          <a:xfrm>
            <a:off x="1198007" y="6649760"/>
            <a:ext cx="3600331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Monitoring &amp; Retraining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21268" y="7343061"/>
            <a:ext cx="399336" cy="3993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87824" y="7376339"/>
            <a:ext cx="26622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2050" dirty="0"/>
          </a:p>
        </p:txBody>
      </p:sp>
      <p:sp>
        <p:nvSpPr>
          <p:cNvPr id="29" name="Text 27"/>
          <p:cNvSpPr/>
          <p:nvPr/>
        </p:nvSpPr>
        <p:spPr>
          <a:xfrm>
            <a:off x="1198007" y="7404021"/>
            <a:ext cx="3060144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Value &amp; Future Work</a:t>
            </a:r>
            <a:endParaRPr lang="en-US" sz="17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93BF85E-E279-4D0C-6789-E5206A9AF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768" y="7542729"/>
            <a:ext cx="2381250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3317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Business Challenge: Inefficient Sales Prioritization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10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4649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B2B sales cycle often faces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inefficiency due to significant lead drop-off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Without an intelligent prioritization mechanism, sales teams spend valuable time on leads with low conversion potential. This results in: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274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Suboptimal resource allocation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696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sales productivity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118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Missed opportunities for high-potential leads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91490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93790" y="668035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objective is to leverage data to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ROI and focus our sales efforts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more effectively by intelligently prioritizing leads with the highest conversion potential.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3F4A34-15A3-1D5F-9DC1-3D4CEE7D7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818" y="7572894"/>
            <a:ext cx="2381582" cy="638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2073"/>
            <a:ext cx="78458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Scope &amp; Methodology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04480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638550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Development &amp; Validation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483298"/>
            <a:ext cx="389393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and validate a robust machine learning model to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lead conversion probability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historical sales data. This includes data preprocessing, feature engineering, and model evaluation.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504480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3638550"/>
            <a:ext cx="38867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 Prioritization Framework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128968"/>
            <a:ext cx="389393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a framework to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categorize new leads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into High, Medium, and Low priority levels, based on the model's predictions. Implement simple User Interface for sales team to use.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504480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3638550"/>
            <a:ext cx="36453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AWS Cloud Implementation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128968"/>
            <a:ext cx="389393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the entire predictive sales conversion flow within the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 cloud ecosystem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ensuring scalability, security, and robust performance for all components and seamless integration into existing workflows.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65CDAE-07DE-35F8-0C50-9565367F4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0450" y="7501438"/>
            <a:ext cx="2381250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11378446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Overview: Foundation of the Model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is built upon a comprehensive dataset sourced from the  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, capturing a wide range of lead characteristics.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571988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Data Points: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1638" y="3100268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input features: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Spanning lead behavior, demographics, and historical interactions.</a:t>
            </a:r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endParaRPr lang="en-US" sz="16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550"/>
              </a:lnSpc>
              <a:buSzPct val="100000"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4018" y="446948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 Origin: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Where the lead originated (e.g., web, referral).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4018" y="485301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 Source: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Specific channel (e.g., Google Ads, direct traffic).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4018" y="527485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TotalVisits: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Aggregate website visits by the lead.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4018" y="6409491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Tags: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Manual tags assigned by sales representatives.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1298438"/>
            <a:ext cx="6342102" cy="63421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A7E9B8-5031-7E17-AC40-D7FDBB2E1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6342" y="7790107"/>
            <a:ext cx="2314058" cy="385676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501E763C-A5AD-4DA9-8439-E38B18B29B99}"/>
              </a:ext>
            </a:extLst>
          </p:cNvPr>
          <p:cNvSpPr/>
          <p:nvPr/>
        </p:nvSpPr>
        <p:spPr>
          <a:xfrm>
            <a:off x="714018" y="4082183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Significant features:</a:t>
            </a:r>
            <a:endParaRPr lang="en-US" sz="20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2864C97-C3D2-ED42-FC5A-44BCF797F950}"/>
              </a:ext>
            </a:extLst>
          </p:cNvPr>
          <p:cNvSpPr/>
          <p:nvPr/>
        </p:nvSpPr>
        <p:spPr>
          <a:xfrm>
            <a:off x="721638" y="5713241"/>
            <a:ext cx="6334482" cy="91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Time Spent on Website: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total time spent by the customer</a:t>
            </a:r>
          </a:p>
          <a:p>
            <a:pPr algn="l">
              <a:lnSpc>
                <a:spcPts val="255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on the website. 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800" y="873741"/>
            <a:ext cx="9998393" cy="64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00"/>
              </a:lnSpc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Cleaning, Preprocessing, Feature Selection &amp; Engineering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17471" y="2067877"/>
            <a:ext cx="6495217" cy="91440"/>
          </a:xfrm>
          <a:prstGeom prst="roundRect">
            <a:avLst>
              <a:gd name="adj" fmla="val 9416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540" y="1783318"/>
            <a:ext cx="614958" cy="614958"/>
          </a:xfrm>
          <a:prstGeom prst="roundRect">
            <a:avLst>
              <a:gd name="adj" fmla="val 14869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928328" y="1879857"/>
            <a:ext cx="24598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45237" y="2412936"/>
            <a:ext cx="3678674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Cleaning</a:t>
            </a:r>
            <a:endParaRPr lang="en-US" sz="2000" b="1" dirty="0"/>
          </a:p>
        </p:txBody>
      </p:sp>
      <p:sp>
        <p:nvSpPr>
          <p:cNvPr id="7" name="Text 5"/>
          <p:cNvSpPr/>
          <p:nvPr/>
        </p:nvSpPr>
        <p:spPr>
          <a:xfrm>
            <a:off x="945237" y="2847293"/>
            <a:ext cx="6039683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duplicate rows,  addressed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null values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standardized categorical labels, and removed irrelevant features to ensure data quality and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Mapping the labels of the columns with similar meaning</a:t>
            </a:r>
          </a:p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17594" y="2067877"/>
            <a:ext cx="6495336" cy="91440"/>
          </a:xfrm>
          <a:prstGeom prst="roundRect">
            <a:avLst>
              <a:gd name="adj" fmla="val 9416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357783" y="1783318"/>
            <a:ext cx="614958" cy="614958"/>
          </a:xfrm>
          <a:prstGeom prst="roundRect">
            <a:avLst>
              <a:gd name="adj" fmla="val 14869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587387" y="1868269"/>
            <a:ext cx="24598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7471" y="5081326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latin typeface="Raleway" pitchFamily="2" charset="0"/>
              </a:rPr>
              <a:t>Feature Engineering</a:t>
            </a:r>
          </a:p>
        </p:txBody>
      </p:sp>
      <p:sp>
        <p:nvSpPr>
          <p:cNvPr id="12" name="Text 10"/>
          <p:cNvSpPr/>
          <p:nvPr/>
        </p:nvSpPr>
        <p:spPr>
          <a:xfrm>
            <a:off x="717471" y="5687636"/>
            <a:ext cx="6039803" cy="178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Engineered features by </a:t>
            </a:r>
            <a:r>
              <a:rPr lang="en-US" sz="1600" b="1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combining existing variables</a:t>
            </a:r>
            <a:r>
              <a:rPr lang="en-US" sz="16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 uncover synergistic effects (e.g.,</a:t>
            </a: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Engagement Score (weighted average of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'Total Time Spent on Website', 'Page Views Per Visit', '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TotalVisits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 and 'Combined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Asymmetrique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Score’ which is summation of </a:t>
            </a:r>
            <a:r>
              <a:rPr lang="fr-FR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'</a:t>
            </a:r>
            <a:r>
              <a:rPr lang="fr-FR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Asymmetrique</a:t>
            </a:r>
            <a:r>
              <a:rPr lang="fr-FR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Activity Score', '</a:t>
            </a:r>
            <a:r>
              <a:rPr lang="fr-FR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Asymmetrique</a:t>
            </a:r>
            <a:r>
              <a:rPr lang="fr-FR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Profile Score’ </a:t>
            </a:r>
            <a:r>
              <a:rPr lang="en-US" sz="16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17471" y="4710767"/>
            <a:ext cx="6495217" cy="91440"/>
          </a:xfrm>
          <a:prstGeom prst="roundRect">
            <a:avLst>
              <a:gd name="adj" fmla="val 9416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540" y="4403288"/>
            <a:ext cx="614958" cy="614958"/>
          </a:xfrm>
          <a:prstGeom prst="roundRect">
            <a:avLst>
              <a:gd name="adj" fmla="val 14869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3928329" y="4494788"/>
            <a:ext cx="24598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795320" y="5099777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latin typeface="Raleway" pitchFamily="34" charset="0"/>
              </a:rPr>
              <a:t>Data Preprocessing</a:t>
            </a:r>
            <a:endParaRPr lang="en-US" sz="2000" b="1" dirty="0"/>
          </a:p>
        </p:txBody>
      </p:sp>
      <p:sp>
        <p:nvSpPr>
          <p:cNvPr id="17" name="Text 15"/>
          <p:cNvSpPr/>
          <p:nvPr/>
        </p:nvSpPr>
        <p:spPr>
          <a:xfrm>
            <a:off x="7576654" y="5520414"/>
            <a:ext cx="6267451" cy="2290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Used </a:t>
            </a:r>
            <a:r>
              <a:rPr lang="en-US" sz="1600" dirty="0" err="1"/>
              <a:t>Winsorization</a:t>
            </a:r>
            <a:r>
              <a:rPr lang="en-US" sz="1600" dirty="0"/>
              <a:t> to cap extreme values in numeric columns.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Applied </a:t>
            </a:r>
            <a:r>
              <a:rPr lang="en-US" sz="1600" dirty="0" err="1"/>
              <a:t>SimpleImputer</a:t>
            </a:r>
            <a:r>
              <a:rPr lang="en-US" sz="1600" dirty="0"/>
              <a:t> — mean for numeric, most frequent for categorical and ordinal features.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Used Ordinal Encoding for ordered categories and </a:t>
            </a:r>
            <a:r>
              <a:rPr lang="en-US" sz="1600" dirty="0" err="1"/>
              <a:t>OneHotEncoding</a:t>
            </a:r>
            <a:r>
              <a:rPr lang="en-US" sz="1600" dirty="0"/>
              <a:t> for nominal categories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Applied Yeo-Johnson Power Transformation and </a:t>
            </a:r>
            <a:r>
              <a:rPr lang="en-US" sz="1600" dirty="0" err="1"/>
              <a:t>MinMaxScaler</a:t>
            </a:r>
            <a:r>
              <a:rPr lang="en-US" sz="1600" dirty="0"/>
              <a:t> to normalize numeric features..</a:t>
            </a:r>
          </a:p>
          <a:p>
            <a:pPr>
              <a:lnSpc>
                <a:spcPts val="255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17594" y="4710767"/>
            <a:ext cx="6495336" cy="91440"/>
          </a:xfrm>
          <a:prstGeom prst="roundRect">
            <a:avLst>
              <a:gd name="adj" fmla="val 9416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374764" y="4357811"/>
            <a:ext cx="614958" cy="614958"/>
          </a:xfrm>
          <a:prstGeom prst="roundRect">
            <a:avLst>
              <a:gd name="adj" fmla="val 14869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613996" y="4428452"/>
            <a:ext cx="24598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645360" y="2324220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latin typeface="Raleway" pitchFamily="34" charset="0"/>
              </a:rPr>
              <a:t>Feature Selection</a:t>
            </a:r>
            <a:endParaRPr lang="en-US" sz="2000" b="1" dirty="0"/>
          </a:p>
        </p:txBody>
      </p:sp>
      <p:sp>
        <p:nvSpPr>
          <p:cNvPr id="22" name="Text 20"/>
          <p:cNvSpPr/>
          <p:nvPr/>
        </p:nvSpPr>
        <p:spPr>
          <a:xfrm>
            <a:off x="7522308" y="2709012"/>
            <a:ext cx="6039803" cy="209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Dropped unnecessary features (</a:t>
            </a:r>
            <a:r>
              <a:rPr lang="en-IN" dirty="0"/>
              <a:t>'Prospect ID', 'Lead Number’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features which contains </a:t>
            </a:r>
            <a:r>
              <a:rPr lang="en-IN" dirty="0"/>
              <a:t>contains constant value</a:t>
            </a:r>
          </a:p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(e.g.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"Magazine", "Receive More Updates About Our Courses",)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Removed insignificant features (e.g. 'Newspaper', 'Newspaper Article’, 'X Education Forums',</a:t>
            </a:r>
            <a:r>
              <a:rPr lang="en-US" sz="1600" dirty="0"/>
              <a:t>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5A6193E-5FF2-1BE9-43B7-158900F8F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6342" y="7790107"/>
            <a:ext cx="2314058" cy="3856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9990" y="272659"/>
            <a:ext cx="72255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Training &amp; Evaluation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16" y="1837680"/>
            <a:ext cx="7604284" cy="35778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036307" y="6100570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F1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3324081" y="6100570"/>
            <a:ext cx="93190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408384" y="6100570"/>
            <a:ext cx="226814" cy="226814"/>
          </a:xfrm>
          <a:prstGeom prst="roundRect">
            <a:avLst>
              <a:gd name="adj" fmla="val 8063"/>
            </a:avLst>
          </a:prstGeom>
          <a:solidFill>
            <a:srgbClr val="505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696158" y="6100570"/>
            <a:ext cx="18947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Precision (Class 1)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5" y="437084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trained and evaluated several machine learning models to identify the most performant solution: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043318" y="1360747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 Tested: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Logistic Regression, Random Forest, XGBoost, and LightGBM.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043317" y="2174984"/>
            <a:ext cx="48850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 Metrics: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Focused on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overall correctness and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Precision for Class 1 (Converted Leads)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minimize false positives.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043318" y="3598621"/>
            <a:ext cx="48850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Model: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LightGBM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consistently outperformed other models, achieving the highest accuracy and precision for predicting conversions.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EA03DC-324B-98C9-5D87-C4B22A744A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705"/>
          <a:stretch>
            <a:fillRect/>
          </a:stretch>
        </p:blipFill>
        <p:spPr>
          <a:xfrm>
            <a:off x="9247854" y="5216617"/>
            <a:ext cx="5221252" cy="2858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789" y="257509"/>
            <a:ext cx="6903601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 &amp; User Interface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7574280" y="777179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make the model accessible, we've deployed it via a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 web application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4280" y="1499376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Methods: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Users can input lead data through a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form-based interface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single predictions or upload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 files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batch processing.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2503670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 Output: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application predicts the conversion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probability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classifies leads into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High, Medium, or Low priority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3388412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Storage: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Prediction results are saved back to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easy access and integration.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4280" y="4181345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Management: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deployed model is retrieved from our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MLflow Registry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ensuring version control and traceability.</a:t>
            </a:r>
            <a:endParaRPr lang="en-US" sz="1600" dirty="0"/>
          </a:p>
        </p:txBody>
      </p:sp>
      <p:pic>
        <p:nvPicPr>
          <p:cNvPr id="20" name="Picture 19" descr="A screenshot of a web page&#10;&#10;AI-generated content may be incorrect.">
            <a:extLst>
              <a:ext uri="{FF2B5EF4-FFF2-40B4-BE49-F238E27FC236}">
                <a16:creationId xmlns:a16="http://schemas.microsoft.com/office/drawing/2014/main" id="{CDE67B4E-7079-3F06-D959-75DA67048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842" y="4981235"/>
            <a:ext cx="6541984" cy="3114837"/>
          </a:xfrm>
          <a:prstGeom prst="rect">
            <a:avLst/>
          </a:prstGeom>
        </p:spPr>
      </p:pic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AAF9CC-501D-E9AE-C1FC-BE05DF204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89" y="1211342"/>
            <a:ext cx="6806021" cy="3410107"/>
          </a:xfrm>
          <a:prstGeom prst="rect">
            <a:avLst/>
          </a:prstGeom>
        </p:spPr>
      </p:pic>
      <p:pic>
        <p:nvPicPr>
          <p:cNvPr id="24" name="Picture 23" descr="A screenshot of a computer">
            <a:extLst>
              <a:ext uri="{FF2B5EF4-FFF2-40B4-BE49-F238E27FC236}">
                <a16:creationId xmlns:a16="http://schemas.microsoft.com/office/drawing/2014/main" id="{DC0954F2-9BE3-60A6-2A49-5EAD67D03A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567"/>
          <a:stretch>
            <a:fillRect/>
          </a:stretch>
        </p:blipFill>
        <p:spPr>
          <a:xfrm>
            <a:off x="436332" y="4974278"/>
            <a:ext cx="6833191" cy="3011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4AEC20D-1985-CFE9-0C3B-40E4C4461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6342" y="7790107"/>
            <a:ext cx="2314058" cy="38567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0ABD8EB1-EAE7-DA3F-D707-4DC82F9DEC5C}"/>
              </a:ext>
            </a:extLst>
          </p:cNvPr>
          <p:cNvSpPr/>
          <p:nvPr/>
        </p:nvSpPr>
        <p:spPr>
          <a:xfrm>
            <a:off x="216569" y="216569"/>
            <a:ext cx="4235116" cy="232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00"/>
              </a:lnSpc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 Diagram </a:t>
            </a:r>
          </a:p>
          <a:p>
            <a:pPr>
              <a:lnSpc>
                <a:spcPts val="5000"/>
              </a:lnSpc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AWS Cloud Implementation:</a:t>
            </a:r>
          </a:p>
        </p:txBody>
      </p:sp>
      <p:pic>
        <p:nvPicPr>
          <p:cNvPr id="8" name="Picture 7" descr="A diagram of a company&#10;&#10;AI-generated content may be incorrect.">
            <a:extLst>
              <a:ext uri="{FF2B5EF4-FFF2-40B4-BE49-F238E27FC236}">
                <a16:creationId xmlns:a16="http://schemas.microsoft.com/office/drawing/2014/main" id="{1E09C1CD-924F-FD14-C652-1687A2D6F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445" y="0"/>
            <a:ext cx="5985677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2871"/>
            <a:ext cx="92025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Monitoring &amp; Retraining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5278"/>
            <a:ext cx="389870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Drift Detection with Evidently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70027"/>
            <a:ext cx="38987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use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Evidently AI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continuously monitor for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and concept drift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comparing new incoming data to the training dataset's characteristics.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731" y="31765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937790" y="2225278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Airflow DAGs for Orchestration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070027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Apache Airflow DAGs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(Directed Acyclic Graphs) are configured to automate the monitoring process and trigger subsequent actions.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52604" y="35650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9937790" y="5043249"/>
            <a:ext cx="28748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Conditional Retraining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533668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the detected drift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exceeds a predefined threshold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the Airflow DAG automatically initiates the model retraining pipeline.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4103" y="5790962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1205032" y="4861798"/>
            <a:ext cx="34874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Ensuring Model Relevance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93790" y="5352217"/>
            <a:ext cx="389870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automated system guarantees that our predictive model remains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accurate and relevant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underlying lead behaviors and market conditions evolve.</a:t>
            </a:r>
            <a:endParaRPr lang="en-US" sz="1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38230" y="540246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6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0A7490B-470D-78FE-3B8A-DCC6C4451E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16342" y="7790107"/>
            <a:ext cx="2314058" cy="3856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5612"/>
            <a:ext cx="78220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Value &amp;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1367"/>
            <a:ext cx="3211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Tangible Business Value: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4251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Optimized Sales Targeting: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Direct sales efforts to the most promising leads.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4761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Waste: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Minimize time spent on low-potential leads.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5271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Conversion Rate: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Drive higher overall sales conversions.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5781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ROI: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Maximize returns on marketing and sales investments.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361367"/>
            <a:ext cx="29400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Enhancements: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1901" y="296890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 Profile Enrichment: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Incorporate external data sources for deeper insights.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377265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Uplift Modeling: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Predict the incremental impact of interventions on conversion.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1900" y="464241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A/B Testing Strategies: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Validate the effectiveness of prioritized lead strategies.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41806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Takeaway: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This project empowers our sales team with a data-driven edge, transforming lead management into a precise, high-impact operation.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B92051-4881-3794-4C0C-7055AB82A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6342" y="7790107"/>
            <a:ext cx="2314058" cy="3856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3133</TotalTime>
  <Words>989</Words>
  <Application>Microsoft Office PowerPoint</Application>
  <PresentationFormat>Custom</PresentationFormat>
  <Paragraphs>116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Roboto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Subramanya Rithwik Jakka</cp:lastModifiedBy>
  <cp:revision>31</cp:revision>
  <dcterms:created xsi:type="dcterms:W3CDTF">2025-07-21T03:36:34Z</dcterms:created>
  <dcterms:modified xsi:type="dcterms:W3CDTF">2025-07-23T08:32:18Z</dcterms:modified>
</cp:coreProperties>
</file>